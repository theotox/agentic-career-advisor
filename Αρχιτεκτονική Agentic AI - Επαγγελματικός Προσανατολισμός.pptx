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Merriweather"/>
      <p:regular r:id="rId17"/>
      <p:bold r:id="rId18"/>
      <p:italic r:id="rId19"/>
      <p:boldItalic r:id="rId20"/>
    </p:embeddedFont>
    <p:embeddedFont>
      <p:font typeface="DM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22" Type="http://schemas.openxmlformats.org/officeDocument/2006/relationships/font" Target="fonts/DMSans-bold.fntdata"/><Relationship Id="rId10" Type="http://schemas.openxmlformats.org/officeDocument/2006/relationships/slide" Target="slides/slide5.xml"/><Relationship Id="rId21" Type="http://schemas.openxmlformats.org/officeDocument/2006/relationships/font" Target="fonts/DMSans-regular.fntdata"/><Relationship Id="rId13" Type="http://schemas.openxmlformats.org/officeDocument/2006/relationships/slide" Target="slides/slide8.xml"/><Relationship Id="rId24" Type="http://schemas.openxmlformats.org/officeDocument/2006/relationships/font" Target="fonts/DMSans-boldItalic.fntdata"/><Relationship Id="rId12" Type="http://schemas.openxmlformats.org/officeDocument/2006/relationships/slide" Target="slides/slide7.xml"/><Relationship Id="rId23" Type="http://schemas.openxmlformats.org/officeDocument/2006/relationships/font" Target="fonts/DM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11555" y="2314575"/>
            <a:ext cx="11168739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Πράκτορες Τεχνητής Νοημοσύνης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στον Επαγγελματικό Προσανατολισμό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777478" y="3971925"/>
            <a:ext cx="1063689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Αρχιτεκτονική &amp; Υλοποίηση Συστήματος Agentic AI (HLD &amp; LLD)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5619750" y="2638425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850813" y="2971800"/>
            <a:ext cx="10490373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Μέρος 1ο: HLD Μηχανισμού Αξιολόγησης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2286000" y="3876675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Σκιαγράφηση του Θεωρητικού Υποβάθρου και των Παραμέτρων Αξιολόγησης Προσωπικότητας μέσω Agentic State Tracking.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335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752475" y="22098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809625" y="2209800"/>
            <a:ext cx="50482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Θεωρία RIASEC (Holland Codes):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Δυναμική ανάλυση 6 τύπων προσωπικότητας (Πρακτικός, Ερευνητικός, Καλλιτεχνικός, Κοινωνικός, Επιχειρηματικός, Συμβατικός) μέσω της αλληλεπίδρασης σε πραγματικό χρόνο.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752475" y="33813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809625" y="3381375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Big Five Personality Traits: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Έμφαση στον δείκτη Ευσυνειδησίας (Conscientiousness) για την πρόβλεψη εργασιακής ηθικής και υπευθυνότητας.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52475" y="42957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09625" y="4295775"/>
            <a:ext cx="50482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Reality Check Metric: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Μια καινοτόμα προσέγγιση ποσοτικοποίησης του "Χάσματος" μεταξύ του επιθυμητού επαγγελματικού στόχου και της προθυμίας για ακαδημαϊκή/πρακτική προσπάθεια.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3175" y="1952625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Το Θεωρητικό Πλαίσιο Αξιολόγησης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52687"/>
            <a:ext cx="5286375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52687"/>
            <a:ext cx="5286375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952500" y="2833687"/>
            <a:ext cx="47505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Ψυχομετρικό Προφίλ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952500" y="3386137"/>
            <a:ext cx="4524375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Καταγραφή τάσεων όπως η ομαδικότητα έναντι της ανεξαρτησίας, η ανθεκτικότητα στην αποτυχία και η εργασιακή ηθική. Το Backend LLM εντοπίζει λανθάνουσες ενδείξεις στον λόγο του χρήστη (π.χ. αναφορές σε χόμπι ή αθλήματα) και τις βαθμολογεί (0-1).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6715125" y="2833687"/>
            <a:ext cx="47505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Δείκτης Ψευδαίσθησης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6715125" y="3386137"/>
            <a:ext cx="452437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Υπολογισμός του "Delusion Level" και της προθυμίας για κόπο ("Willingness to Sweat"). Υπαγορεύει δυναμικά τη στάση του Frontend LLM: από υποστηρικτική επικύρωση έως αυστηρή ρεαλιστική προσγείωση.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Παράμετροι State Tracking (LLM-2)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/>
          <p:nvPr/>
        </p:nvSpPr>
        <p:spPr>
          <a:xfrm>
            <a:off x="5619750" y="2638425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2132535" y="2971800"/>
            <a:ext cx="7926928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Μέρος 2ο: HLD Αρχιτεκτονικής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2286000" y="3876675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Η μετάβαση από το συμβατικό (μονολιθικό) prompting σε μια δυναμική, πρακτορική (Agentic) αρχιτεκτονική διπλού κόμβου.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14525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1914525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0" y="1914525"/>
            <a:ext cx="3429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485775" y="4248150"/>
            <a:ext cx="36004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Φάση 1: Μονολιθική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571500" y="4695825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Ένα απλό Chatbot. Χαρακτηρίζεται από φλυαρία, απώλεια προσανατολισμού και αδυναμία διατήρησης μακροπρόθεσμου στρατηγικού στόχου κατά τη συνέντευξη.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4295775" y="4248150"/>
            <a:ext cx="36004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Φάση 2: Agentic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4381500" y="4695825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Εισαγωγή 2ου αόρατου Agent (Αξιολογητής) που αναλύει το ιστορικό στο παρασκήνιο (background) και εξάγει αυστηρά δομημένο JSON.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8105775" y="4248150"/>
            <a:ext cx="36004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Φάση 3: Ολοκλήρωση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8191500" y="4695825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Το Frontend Agent (Σύμβουλος) λαμβάνει μυστικές οδηγίες, ρυθμίζοντας τη συμπεριφορά του σε πραγματικό χρόνο χωρίς να φαίνεται στον χρήστη.</a:t>
            </a:r>
            <a:endParaRPr/>
          </a:p>
        </p:txBody>
      </p:sp>
      <p:pic>
        <p:nvPicPr>
          <p:cNvPr descr="image.png"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1933575"/>
            <a:ext cx="33909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0550" y="1933575"/>
            <a:ext cx="33909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10550" y="1933575"/>
            <a:ext cx="339090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Αρχιτεκτονική Εξέλιξη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390650"/>
            <a:ext cx="11049000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1123950" y="5400675"/>
            <a:ext cx="9944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Η υποκείμενη αρχιτεκτονική εκμεταλλεύεται τις δυνατότητες της RTX 5090. Η βαριά γνωστική διεργασία μετατοπίζεται στο παρασκήνιο, εγγυώμενη αδιάλειπτη εμπειρία χρήστη.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Κατανομή Επεξεργαστικού Φόρτου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/>
          <p:nvPr/>
        </p:nvSpPr>
        <p:spPr>
          <a:xfrm>
            <a:off x="5619750" y="2638425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1299150" y="2971800"/>
            <a:ext cx="9593699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Μέρος 3ο: Low-Level Design (LLD)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2286000" y="3876675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Λεπτομέρειες υλοποίησης και μέθοδοι παράκαμψης των εξωτερικών Agentic Frameworks για απόλυτο έλεγχο.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09775"/>
            <a:ext cx="34290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009775"/>
            <a:ext cx="34290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009775"/>
            <a:ext cx="34290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 txBox="1"/>
          <p:nvPr/>
        </p:nvSpPr>
        <p:spPr>
          <a:xfrm>
            <a:off x="857250" y="3086100"/>
            <a:ext cx="156019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State Tracking</a:t>
            </a:r>
            <a:endParaRPr/>
          </a:p>
        </p:txBody>
      </p:sp>
      <p:sp>
        <p:nvSpPr>
          <p:cNvPr id="163" name="Google Shape;163;p21"/>
          <p:cNvSpPr txBox="1"/>
          <p:nvPr/>
        </p:nvSpPr>
        <p:spPr>
          <a:xfrm>
            <a:off x="857250" y="3667125"/>
            <a:ext cx="285750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Υλοποίηση αποκλειστικά μέσω του Session State της Streamlit. Αποφεύγεται η χρήση βαριών βιβλιοθηκών (π.χ. LangGraph) μειώνοντας το I/O latency και την πολυπλοκότητα του Python κώδικα.</a:t>
            </a:r>
            <a:endParaRPr/>
          </a:p>
        </p:txBody>
      </p:sp>
      <p:sp>
        <p:nvSpPr>
          <p:cNvPr id="164" name="Google Shape;164;p21"/>
          <p:cNvSpPr txBox="1"/>
          <p:nvPr/>
        </p:nvSpPr>
        <p:spPr>
          <a:xfrm>
            <a:off x="4667250" y="3086100"/>
            <a:ext cx="1800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Prompt Injection</a:t>
            </a:r>
            <a:endParaRPr/>
          </a:p>
        </p:txBody>
      </p:sp>
      <p:sp>
        <p:nvSpPr>
          <p:cNvPr id="165" name="Google Shape;165;p21"/>
          <p:cNvSpPr txBox="1"/>
          <p:nvPr/>
        </p:nvSpPr>
        <p:spPr>
          <a:xfrm>
            <a:off x="4667250" y="3667125"/>
            <a:ext cx="285750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Δυναμική επαναγραφή του System Prompt (index 0) σε κάθε κύκλο (loop) συνομιλίας. Επιβάλλει ακαριαία συμμόρφωση στο LLM-1 χωρίς να "μολύνει" το ιστορικό της συνομιλίας.</a:t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8477250" y="3086100"/>
            <a:ext cx="153019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Hardware Opt.</a:t>
            </a:r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8477250" y="3667125"/>
            <a:ext cx="285750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Χρήση GGUF (Q5_K_M) μοντέλων. Η χρήση 8-bit cache (--cache-type-k q8_0) και Flash Attention βελτιστοποιεί την κατανάλωση VRAM επιτρέποντας γρήγορο context processing.</a:t>
            </a:r>
            <a:endParaRPr/>
          </a:p>
        </p:txBody>
      </p:sp>
      <p:pic>
        <p:nvPicPr>
          <p:cNvPr descr="image.png" id="168" name="Google Shape;16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35267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7250" y="23526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0" y="23526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Υλοποίηση Χωρίς Frameworks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/>
        </p:nvSpPr>
        <p:spPr>
          <a:xfrm>
            <a:off x="295275" y="2347912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Ερωτήσεις &amp; Συζήτηση;</a:t>
            </a:r>
            <a:endParaRPr/>
          </a:p>
        </p:txBody>
      </p:sp>
      <p:sp>
        <p:nvSpPr>
          <p:cNvPr id="177" name="Google Shape;177;p22"/>
          <p:cNvSpPr txBox="1"/>
          <p:nvPr/>
        </p:nvSpPr>
        <p:spPr>
          <a:xfrm>
            <a:off x="571500" y="3538537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Σας ευχαριστώ για την προσοχή σας.</a:t>
            </a:r>
            <a:endParaRPr/>
          </a:p>
        </p:txBody>
      </p:sp>
      <p:sp>
        <p:nvSpPr>
          <p:cNvPr id="178" name="Google Shape;178;p22"/>
          <p:cNvSpPr txBox="1"/>
          <p:nvPr/>
        </p:nvSpPr>
        <p:spPr>
          <a:xfrm>
            <a:off x="571500" y="4262437"/>
            <a:ext cx="1104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Agentic AI Architecture Design | Digital Career Advisor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/>
          <p:nvPr/>
        </p:nvSpPr>
        <p:spPr>
          <a:xfrm>
            <a:off x="571500" y="22145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571500" y="29860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571500" y="37576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571500" y="29765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571500" y="29765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571500" y="37480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571500" y="37480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571500" y="45196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571500" y="45196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2" name="Google Shape;1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574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3"/>
          <p:cNvSpPr txBox="1"/>
          <p:nvPr/>
        </p:nvSpPr>
        <p:spPr>
          <a:xfrm>
            <a:off x="1666875" y="23645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https://png.pngtree.com/png-vector/20260403/ourlarge/pngtree-illustration-of-a-human-brain-with-gears-and-tools-symbolizing-the-vector-png-image_19046154.webp</a:t>
            </a:r>
            <a:endParaRPr/>
          </a:p>
        </p:txBody>
      </p:sp>
      <p:sp>
        <p:nvSpPr>
          <p:cNvPr id="194" name="Google Shape;194;p23"/>
          <p:cNvSpPr txBox="1"/>
          <p:nvPr/>
        </p:nvSpPr>
        <p:spPr>
          <a:xfrm>
            <a:off x="1666875" y="25979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pngtree.com</a:t>
            </a:r>
            <a:endParaRPr/>
          </a:p>
        </p:txBody>
      </p:sp>
      <p:pic>
        <p:nvPicPr>
          <p:cNvPr descr="image.png" id="195" name="Google Shape;19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28962"/>
            <a:ext cx="102870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 txBox="1"/>
          <p:nvPr/>
        </p:nvSpPr>
        <p:spPr>
          <a:xfrm>
            <a:off x="1666875" y="31361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https://miro.medium.com/1*-ptbZcDAv0KsoOvZ74LhzA.png</a:t>
            </a: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1666875" y="33694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medium.com</a:t>
            </a:r>
            <a:endParaRPr/>
          </a:p>
        </p:txBody>
      </p:sp>
      <p:pic>
        <p:nvPicPr>
          <p:cNvPr descr="image.png" id="198" name="Google Shape;19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00487"/>
            <a:ext cx="15430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 txBox="1"/>
          <p:nvPr/>
        </p:nvSpPr>
        <p:spPr>
          <a:xfrm>
            <a:off x="1666875" y="39076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https://www.frontiersin.org/files/Articles/1469105/xml-images/frvir-06-1469105-g001.webp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1666875" y="41409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www.frontiersin.org</a:t>
            </a:r>
            <a:endParaRPr/>
          </a:p>
        </p:txBody>
      </p:sp>
      <p:pic>
        <p:nvPicPr>
          <p:cNvPr descr="image.png" id="201" name="Google Shape;20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577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3"/>
          <p:cNvSpPr txBox="1"/>
          <p:nvPr/>
        </p:nvSpPr>
        <p:spPr>
          <a:xfrm>
            <a:off x="1666875" y="467201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https://static.vecteezy.com/system/resources/previews/060/845/218/non_2x/a-seamless-pattern-featuring-abstract-waves-created-with-flowing-blue-lines-and-dynamic-movement-vector.jpg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1666875" y="509111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www.vecteezy.com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